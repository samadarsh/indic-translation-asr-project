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hji3cBOZXpgoR+pvRMwLr9rCQ+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CA71AA-75EC-4A87-9C37-5847503978CC}">
  <a:tblStyle styleId="{CFCA71AA-75EC-4A87-9C37-5847503978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5A8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40080" y="1005840"/>
            <a:ext cx="78638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Tamil ASR &amp; Translation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Evaluation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2875591"/>
            <a:ext cx="7863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Tamizh Internship - Round 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914400" y="3703320"/>
            <a:ext cx="3291840" cy="594360"/>
          </a:xfrm>
          <a:prstGeom prst="roundRect">
            <a:avLst>
              <a:gd fmla="val 15385" name="adj"/>
            </a:avLst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914400" y="370332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1: Translation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937760" y="3703320"/>
            <a:ext cx="3291840" cy="594360"/>
          </a:xfrm>
          <a:prstGeom prst="roundRect">
            <a:avLst>
              <a:gd fmla="val 15385" name="adj"/>
            </a:avLst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4937760" y="370332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2: ASR + Transliteration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457200" y="914400"/>
            <a:ext cx="3840600" cy="3931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457200" y="914400"/>
            <a:ext cx="3840600" cy="639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546514" y="1005840"/>
            <a:ext cx="366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600"/>
              <a:buFont typeface="Calibri"/>
              <a:buNone/>
            </a:pPr>
            <a:r>
              <a:rPr b="1" i="0" lang="en-US" sz="1600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r>
              <a:rPr b="1" i="0" lang="en-US" sz="1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 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46514" y="1417321"/>
            <a:ext cx="366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Evaluation of Indic Translation Models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546514" y="1828801"/>
            <a:ext cx="3661800" cy="28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Part A: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Batch Translation &amp; sacreBLEU</a:t>
            </a:r>
            <a:b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Part B: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Token-Based Comparative Analysis</a:t>
            </a:r>
            <a:b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Part C: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Indic Token Behavior Analysis</a:t>
            </a:r>
            <a:b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100">
              <a:solidFill>
                <a:srgbClr val="1A2A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Dataset: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FLORES-200 devtest (1,012 sentences)</a:t>
            </a:r>
            <a:b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Models: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5 translation models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846325" y="914400"/>
            <a:ext cx="3840600" cy="3931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4846325" y="914400"/>
            <a:ext cx="3840600" cy="6390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935641" y="1005840"/>
            <a:ext cx="36621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935641" y="1417321"/>
            <a:ext cx="3662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ASR-Based Transcription &amp; Transliteration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4935641" y="1828801"/>
            <a:ext cx="3662100" cy="28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ASR: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openai/whisper-medium</a:t>
            </a:r>
            <a:b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Transliteration: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custom Tamil</a:t>
            </a:r>
            <a:r>
              <a:rPr lang="en-US" sz="1100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-aware ASCII romanizer</a:t>
            </a:r>
            <a:b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Interface: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Gradio (port 7860)</a:t>
            </a:r>
            <a:b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Buffer: </a:t>
            </a:r>
            <a:r>
              <a:rPr lang="en-US" sz="1100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chunked (≤30 s) + queue.Queue(maxsize=10), bounded batches</a:t>
            </a:r>
            <a:endParaRPr sz="1100">
              <a:solidFill>
                <a:srgbClr val="1A2A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rgbClr val="1A2A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Deploy: 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Docker + docker-compose</a:t>
            </a:r>
            <a:b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Tests: </a:t>
            </a:r>
            <a:r>
              <a:rPr lang="en-US" sz="1100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sz="1100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b="0" i="0" lang="en-US" sz="11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passed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1 — Dataset &amp; Setup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3"/>
          <p:cNvSpPr/>
          <p:nvPr/>
        </p:nvSpPr>
        <p:spPr>
          <a:xfrm>
            <a:off x="457188" y="914400"/>
            <a:ext cx="3931800" cy="2011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3"/>
          <p:cNvSpPr/>
          <p:nvPr/>
        </p:nvSpPr>
        <p:spPr>
          <a:xfrm>
            <a:off x="548628" y="978150"/>
            <a:ext cx="3749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Dataset — FLORES-200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548628" y="1280693"/>
            <a:ext cx="3749100" cy="154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Char char="●"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FLORES-200 devtest split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Char char="●"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Total: 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1,012 sentences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Char char="●"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Used: 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100 (Part A), 10 (Parts B &amp; C)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Char char="●"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Domains: 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wikinews, wikibooks, wikivoyage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Char char="●"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Ref: 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Human-verified Tamil translations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4754995" y="1038975"/>
            <a:ext cx="3931800" cy="3383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3"/>
          <p:cNvSpPr/>
          <p:nvPr/>
        </p:nvSpPr>
        <p:spPr>
          <a:xfrm>
            <a:off x="4846435" y="1130415"/>
            <a:ext cx="3749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5 Models Compared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3" name="Google Shape;53;p3"/>
          <p:cNvGraphicFramePr/>
          <p:nvPr/>
        </p:nvGraphicFramePr>
        <p:xfrm>
          <a:off x="4846435" y="15418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{CFCA71AA-75EC-4A87-9C37-5847503978CC}</a:tableStyleId>
              </a:tblPr>
              <a:tblGrid>
                <a:gridCol w="1188725"/>
                <a:gridCol w="2560325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Label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HuggingFace ID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IndicTrans2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C7293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900" u="none" cap="none" strike="noStrike">
                          <a:solidFill>
                            <a:srgbClr val="1C7293"/>
                          </a:solidFill>
                        </a:rPr>
                        <a:t>ai4bharat/indictrans2-en-indic-1B</a:t>
                      </a:r>
                      <a:endParaRPr sz="9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NLLB-600M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C7293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900" u="none" cap="none" strike="noStrike">
                          <a:solidFill>
                            <a:srgbClr val="1C7293"/>
                          </a:solidFill>
                        </a:rPr>
                        <a:t>facebook/nllb-200-distilled-600M</a:t>
                      </a:r>
                      <a:endParaRPr sz="9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mT5-base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C7293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900" u="none" cap="none" strike="noStrike">
                          <a:solidFill>
                            <a:srgbClr val="1C7293"/>
                          </a:solidFill>
                        </a:rPr>
                        <a:t>google/mt5-base</a:t>
                      </a:r>
                      <a:endParaRPr sz="9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OpusMT-mul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C7293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900" u="none" cap="none" strike="noStrike">
                          <a:solidFill>
                            <a:srgbClr val="1C7293"/>
                          </a:solidFill>
                        </a:rPr>
                        <a:t>Helsinki-NLP/opus-mt-en-mul</a:t>
                      </a:r>
                      <a:endParaRPr sz="9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MADLAD-3B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C7293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900" u="none" cap="none" strike="noStrike">
                          <a:solidFill>
                            <a:srgbClr val="1C7293"/>
                          </a:solidFill>
                        </a:rPr>
                        <a:t>google/madlad400-3b-mt</a:t>
                      </a:r>
                      <a:endParaRPr sz="9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54" name="Google Shape;54;p3"/>
          <p:cNvSpPr/>
          <p:nvPr/>
        </p:nvSpPr>
        <p:spPr>
          <a:xfrm>
            <a:off x="457188" y="3063240"/>
            <a:ext cx="3931800" cy="1645800"/>
          </a:xfrm>
          <a:prstGeom prst="rect">
            <a:avLst/>
          </a:prstGeom>
          <a:solidFill>
            <a:srgbClr val="FFF8E1"/>
          </a:solidFill>
          <a:ln cap="flat" cmpd="sng" w="12700">
            <a:solidFill>
              <a:srgbClr val="FFD5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"/>
          <p:cNvSpPr/>
          <p:nvPr/>
        </p:nvSpPr>
        <p:spPr>
          <a:xfrm>
            <a:off x="548628" y="3147757"/>
            <a:ext cx="3749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45309"/>
                </a:solidFill>
                <a:latin typeface="Calibri"/>
                <a:ea typeface="Calibri"/>
                <a:cs typeface="Calibri"/>
                <a:sym typeface="Calibri"/>
              </a:rPr>
              <a:t>⚠ Model Substitution Notes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48628" y="3491175"/>
            <a:ext cx="3749100" cy="93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opus-mt-en-ta</a:t>
            </a:r>
            <a:r>
              <a:rPr b="0" i="0" lang="en-US" sz="9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 → opus-mt-en-mul</a:t>
            </a:r>
            <a:br>
              <a:rPr b="0" i="0" lang="en-US" sz="9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Calibri"/>
              <a:buChar char="❖"/>
            </a:pPr>
            <a:r>
              <a:rPr b="0" i="0" lang="en-US" sz="9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Model does not exist on HuggingFace. </a:t>
            </a:r>
            <a:endParaRPr b="0" i="0" sz="900" u="none" cap="none" strike="noStrike">
              <a:solidFill>
                <a:srgbClr val="92400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Calibri"/>
              <a:buChar char="❖"/>
            </a:pPr>
            <a:r>
              <a:rPr b="0" i="0" lang="en-US" sz="9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en-mul uses the same</a:t>
            </a:r>
            <a:r>
              <a:rPr lang="en-US" sz="900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MarianMT architecture and supports Tamil as target.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1 — Methodology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4"/>
          <p:cNvSpPr/>
          <p:nvPr/>
        </p:nvSpPr>
        <p:spPr>
          <a:xfrm>
            <a:off x="457200" y="944003"/>
            <a:ext cx="2674200" cy="3623400"/>
          </a:xfrm>
          <a:prstGeom prst="rect">
            <a:avLst/>
          </a:prstGeom>
          <a:solidFill>
            <a:srgbClr val="FFFFFF"/>
          </a:solidFill>
          <a:ln cap="flat" cmpd="sng" w="11975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250" lIns="86250" spcFirstLastPara="1" rIns="86250" wrap="square" tIns="86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4"/>
          <p:cNvSpPr/>
          <p:nvPr/>
        </p:nvSpPr>
        <p:spPr>
          <a:xfrm>
            <a:off x="457200" y="944003"/>
            <a:ext cx="2674200" cy="60300"/>
          </a:xfrm>
          <a:prstGeom prst="rect">
            <a:avLst/>
          </a:prstGeom>
          <a:solidFill>
            <a:srgbClr val="065A82"/>
          </a:solidFill>
          <a:ln cap="flat" cmpd="sng" w="11975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250" lIns="86250" spcFirstLastPara="1" rIns="86250" wrap="square" tIns="86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4"/>
          <p:cNvSpPr/>
          <p:nvPr/>
        </p:nvSpPr>
        <p:spPr>
          <a:xfrm>
            <a:off x="543463" y="1030266"/>
            <a:ext cx="2501700" cy="4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125" lIns="86250" spcFirstLastPara="1" rIns="86250" wrap="square" tIns="43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943"/>
              <a:buFont typeface="Calibri"/>
              <a:buNone/>
            </a:pPr>
            <a:r>
              <a:rPr b="1" i="0" lang="en-US" sz="943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Part A — Batch Translation &amp; sacreBLEU</a:t>
            </a:r>
            <a:endParaRPr b="0" i="0" sz="94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543463" y="1504715"/>
            <a:ext cx="2501700" cy="29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3125" lIns="86250" spcFirstLastPara="1" rIns="86250" wrap="square" tIns="43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Model: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ai4bharat/indictrans2-en-indic-1B (1B params, loaded once)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Preprocessor: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AI4Bharat IndicProcessor (eng_Latn → tam_Taml)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Input: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First 100 English sentences (FLORES-200 devtest)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Metric: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sacreBLEU corpus score + BP + length ratio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Outputs: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translation_outputs.csv, sacrebleu_results.csv</a:t>
            </a: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3234877" y="944003"/>
            <a:ext cx="2674200" cy="3623400"/>
          </a:xfrm>
          <a:prstGeom prst="rect">
            <a:avLst/>
          </a:prstGeom>
          <a:solidFill>
            <a:srgbClr val="FFFFFF"/>
          </a:solidFill>
          <a:ln cap="flat" cmpd="sng" w="11975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250" lIns="86250" spcFirstLastPara="1" rIns="86250" wrap="square" tIns="86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4"/>
          <p:cNvSpPr/>
          <p:nvPr/>
        </p:nvSpPr>
        <p:spPr>
          <a:xfrm>
            <a:off x="3234877" y="944003"/>
            <a:ext cx="2674200" cy="60300"/>
          </a:xfrm>
          <a:prstGeom prst="rect">
            <a:avLst/>
          </a:prstGeom>
          <a:solidFill>
            <a:srgbClr val="1C7293"/>
          </a:solidFill>
          <a:ln cap="flat" cmpd="sng" w="11975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250" lIns="86250" spcFirstLastPara="1" rIns="86250" wrap="square" tIns="86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4"/>
          <p:cNvSpPr/>
          <p:nvPr/>
        </p:nvSpPr>
        <p:spPr>
          <a:xfrm>
            <a:off x="3321140" y="1030266"/>
            <a:ext cx="2501700" cy="4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125" lIns="86250" spcFirstLastPara="1" rIns="86250" wrap="square" tIns="43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943"/>
              <a:buFont typeface="Calibri"/>
              <a:buNone/>
            </a:pPr>
            <a:r>
              <a:rPr b="1" i="0" lang="en-US" sz="943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Part B — Token-Based Comparative Analysis</a:t>
            </a:r>
            <a:endParaRPr b="0" i="0" sz="94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3321140" y="1504715"/>
            <a:ext cx="2501700" cy="29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3125" lIns="86250" spcFirstLastPara="1" rIns="86250" wrap="square" tIns="43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Scope: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5 tokenizers × 10 English sentences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Metrics: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source_token_count, target_token_count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expansion_ratio = target / source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avg_word_length, subword_fragmentation, unknown_token_rate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EDA: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histogram, boxplot, scatter, bar chart</a:t>
            </a: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012554" y="944003"/>
            <a:ext cx="2674200" cy="3623400"/>
          </a:xfrm>
          <a:prstGeom prst="rect">
            <a:avLst/>
          </a:prstGeom>
          <a:solidFill>
            <a:srgbClr val="FFFFFF"/>
          </a:solidFill>
          <a:ln cap="flat" cmpd="sng" w="11975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250" lIns="86250" spcFirstLastPara="1" rIns="86250" wrap="square" tIns="86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6012554" y="944003"/>
            <a:ext cx="2674200" cy="60300"/>
          </a:xfrm>
          <a:prstGeom prst="rect">
            <a:avLst/>
          </a:prstGeom>
          <a:solidFill>
            <a:srgbClr val="065A82"/>
          </a:solidFill>
          <a:ln cap="flat" cmpd="sng" w="11975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250" lIns="86250" spcFirstLastPara="1" rIns="86250" wrap="square" tIns="86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6098817" y="1030266"/>
            <a:ext cx="2501700" cy="4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125" lIns="86250" spcFirstLastPara="1" rIns="86250" wrap="square" tIns="43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943"/>
              <a:buFont typeface="Calibri"/>
              <a:buNone/>
            </a:pPr>
            <a:r>
              <a:rPr b="1" i="0" lang="en-US" sz="943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Part C — Indic Token Behavior</a:t>
            </a:r>
            <a:endParaRPr b="0" i="0" sz="94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6098817" y="1504715"/>
            <a:ext cx="2501700" cy="29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3125" lIns="86250" spcFirstLastPara="1" rIns="86250" wrap="square" tIns="43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Scope: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Same 5 tokenizers on Tamil reference sentences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Metrics: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chars/token, Unicode fragmentation rate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rare-token rate, Tamil vocab coverage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Memory: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Illustrative footprint (hidden=768, fp32)</a:t>
            </a:r>
            <a:b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896"/>
              <a:buFont typeface="Calibri"/>
              <a:buNone/>
            </a:pPr>
            <a:r>
              <a:rPr b="1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Outputs: </a:t>
            </a:r>
            <a:r>
              <a:rPr b="0" i="0" lang="en-US" sz="896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6 plots under part_c_indic_token_behavior/plots/</a:t>
            </a:r>
            <a:endParaRPr b="0" i="0" sz="89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1 — Results Summary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457256" y="903269"/>
            <a:ext cx="2275800" cy="2173200"/>
          </a:xfrm>
          <a:prstGeom prst="rect">
            <a:avLst/>
          </a:prstGeom>
          <a:solidFill>
            <a:srgbClr val="065A82"/>
          </a:solidFill>
          <a:ln cap="flat" cmpd="sng" w="11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4275" lIns="84275" spcFirstLastPara="1" rIns="84275" wrap="square" tIns="8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541548" y="983760"/>
            <a:ext cx="21072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25" lIns="84275" spcFirstLastPara="1" rIns="84275" wrap="square" tIns="42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98"/>
              <a:buFont typeface="Calibri"/>
              <a:buNone/>
            </a:pPr>
            <a:r>
              <a:rPr b="1" i="0" lang="en-US" sz="1198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Part A</a:t>
            </a:r>
            <a:endParaRPr b="0" i="0" sz="11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541548" y="1265477"/>
            <a:ext cx="2107200" cy="22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25" lIns="84275" spcFirstLastPara="1" rIns="84275" wrap="square" tIns="42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22"/>
              <a:buFont typeface="Calibri"/>
              <a:buNone/>
            </a:pPr>
            <a:r>
              <a:rPr b="0" i="0" lang="en-US" sz="922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sacreBLEU Score</a:t>
            </a:r>
            <a:endParaRPr b="0" i="0" sz="92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541548" y="1482802"/>
            <a:ext cx="2107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25" lIns="84275" spcFirstLastPara="1" rIns="84275" wrap="square" tIns="42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56"/>
              <a:buFont typeface="Calibri"/>
              <a:buNone/>
            </a:pPr>
            <a:r>
              <a:rPr b="1" i="0" lang="en-US" sz="405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22.42</a:t>
            </a:r>
            <a:endParaRPr b="0" i="0" sz="405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541548" y="2014040"/>
            <a:ext cx="2107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25" lIns="84275" spcFirstLastPara="1" rIns="84275" wrap="square" tIns="42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30"/>
              <a:buFont typeface="Calibri"/>
              <a:buNone/>
            </a:pPr>
            <a:r>
              <a:rPr b="0" i="0" lang="en-US" sz="83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GOOD range (15–25)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541548" y="2231365"/>
            <a:ext cx="21072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125" lIns="84275" spcFirstLastPara="1" rIns="84275" wrap="square" tIns="42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30"/>
              <a:buFont typeface="Calibri"/>
              <a:buNone/>
            </a:pPr>
            <a:r>
              <a:rPr b="1" i="0" lang="en-US" sz="83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BP: </a:t>
            </a:r>
            <a:r>
              <a:rPr b="0" i="0" lang="en-US" sz="83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0.9638</a:t>
            </a:r>
            <a:br>
              <a:rPr b="0" i="0" lang="en-US" sz="83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30"/>
              <a:buFont typeface="Calibri"/>
              <a:buNone/>
            </a:pPr>
            <a:r>
              <a:rPr b="1" i="0" lang="en-US" sz="83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Ratio: </a:t>
            </a:r>
            <a:r>
              <a:rPr b="0" i="0" lang="en-US" sz="83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0.9645</a:t>
            </a:r>
            <a:endParaRPr b="0" i="0" sz="8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585596" y="903327"/>
            <a:ext cx="5101200" cy="217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3677046" y="976477"/>
            <a:ext cx="4917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Part B — Token Expansion Ratio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1" name="Google Shape;91;p5"/>
          <p:cNvGraphicFramePr/>
          <p:nvPr/>
        </p:nvGraphicFramePr>
        <p:xfrm>
          <a:off x="3677046" y="13330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{CFCA71AA-75EC-4A87-9C37-5847503978CC}</a:tableStyleId>
              </a:tblPr>
              <a:tblGrid>
                <a:gridCol w="1583525"/>
                <a:gridCol w="2166950"/>
                <a:gridCol w="1166800"/>
              </a:tblGrid>
              <a:tr h="263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Model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Avg Expansion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Valid Tamil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7293"/>
                    </a:solidFill>
                  </a:tcPr>
                </a:tc>
              </a:tr>
              <a:tr h="263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IndicTrans2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5.256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NLLB-600M 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7D32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2E7D32"/>
                          </a:solidFill>
                        </a:rPr>
                        <a:t>1.366 (lowest valid)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F5E9"/>
                    </a:solidFill>
                  </a:tcPr>
                </a:tc>
              </a:tr>
              <a:tr h="263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MADLAD-3B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1.641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OpusMT-mul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2.421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mT5-base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C0392B"/>
                          </a:solidFill>
                        </a:rPr>
                        <a:t>0.200 ⚠ (not MT)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❌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preencoded.png" id="92" name="Google Shape;9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56" y="3264307"/>
            <a:ext cx="3704749" cy="1646626"/>
          </a:xfrm>
          <a:prstGeom prst="rect">
            <a:avLst/>
          </a:prstGeom>
          <a:noFill/>
          <a:ln cap="flat" cmpd="sng" w="9525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93" name="Google Shape;93;p5"/>
          <p:cNvSpPr/>
          <p:nvPr/>
        </p:nvSpPr>
        <p:spPr>
          <a:xfrm>
            <a:off x="457206" y="4915957"/>
            <a:ext cx="3704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7A8A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5A7A8A"/>
                </a:solidFill>
                <a:latin typeface="Calibri"/>
                <a:ea typeface="Calibri"/>
                <a:cs typeface="Calibri"/>
                <a:sym typeface="Calibri"/>
              </a:rPr>
              <a:t>Fig: Avg expansion ratio per model (Part B)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4572000" y="3264382"/>
            <a:ext cx="4114800" cy="16467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95" name="Google Shape;95;p5"/>
          <p:cNvSpPr/>
          <p:nvPr/>
        </p:nvSpPr>
        <p:spPr>
          <a:xfrm>
            <a:off x="4663437" y="3316695"/>
            <a:ext cx="3931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0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Part C — Indic Token Behavior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6" name="Google Shape;96;p5"/>
          <p:cNvGraphicFramePr/>
          <p:nvPr/>
        </p:nvGraphicFramePr>
        <p:xfrm>
          <a:off x="4760359" y="354673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{CFCA71AA-75EC-4A87-9C37-5847503978CC}</a:tableStyleId>
              </a:tblPr>
              <a:tblGrid>
                <a:gridCol w="1303975"/>
                <a:gridCol w="869325"/>
                <a:gridCol w="738925"/>
                <a:gridCol w="825850"/>
              </a:tblGrid>
              <a:tr h="191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FFFFFF"/>
                          </a:solidFill>
                        </a:rPr>
                        <a:t>Model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FFFFFF"/>
                          </a:solidFill>
                        </a:rPr>
                        <a:t>Chars/Tok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FFFFFF"/>
                          </a:solidFill>
                        </a:rPr>
                        <a:t>Frag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FFFFFF"/>
                          </a:solidFill>
                        </a:rPr>
                        <a:t>Mem(MB)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5A82"/>
                    </a:solidFill>
                  </a:tcPr>
                </a:tc>
              </a:tr>
              <a:tr h="191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IndicTrans2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1.004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0.861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102.3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</a:tr>
              <a:tr h="191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000000"/>
                          </a:solidFill>
                        </a:rPr>
                        <a:t>NLLB-600M ★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3.035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0.241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9.1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91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mT5-base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3.097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0.148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8.8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</a:tr>
              <a:tr h="191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OpusMT-mul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0.929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0.850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96.1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91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MADLAD-3B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2.678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0.237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Calibri"/>
                        <a:buNone/>
                      </a:pPr>
                      <a:r>
                        <a:rPr lang="en-US" sz="800" u="none" cap="none" strike="noStrike">
                          <a:solidFill>
                            <a:srgbClr val="000000"/>
                          </a:solidFill>
                        </a:rPr>
                        <a:t>11.6</a:t>
                      </a:r>
                      <a:endParaRPr sz="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8DCE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Key Insights — Project 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457200" y="1025411"/>
            <a:ext cx="39822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457200" y="1025411"/>
            <a:ext cx="486600" cy="17832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457200" y="1025411"/>
            <a:ext cx="486600" cy="178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1032377" y="1116851"/>
            <a:ext cx="3273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Tokenizer Efficiency ≠ Translation Quality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1032377" y="1555761"/>
            <a:ext cx="3273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mT5-base ranks best on tokenizer metrics but produces invalid Tamil translations. IndicTrans2 achieves BLEU 22.42 despite high token counts due to internal romanization.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704661" y="1025411"/>
            <a:ext cx="39822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4704661" y="1025411"/>
            <a:ext cx="486600" cy="17832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4704661" y="1025411"/>
            <a:ext cx="486600" cy="178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5279838" y="1116851"/>
            <a:ext cx="3273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IndicTrans2 — Best Translation Quality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5279838" y="1555761"/>
            <a:ext cx="3273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sacreBLEU 22.42 (BP 0.9638, ratio 0.9645). IndicProcessor romanization explains high token counts — not a vocabulary weakness.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457200" y="3037086"/>
            <a:ext cx="39822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6"/>
          <p:cNvSpPr/>
          <p:nvPr/>
        </p:nvSpPr>
        <p:spPr>
          <a:xfrm>
            <a:off x="457200" y="3037086"/>
            <a:ext cx="486600" cy="178320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457200" y="3037086"/>
            <a:ext cx="486600" cy="178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1032377" y="3128525"/>
            <a:ext cx="3273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NLLB-600M — Best Real-World Balance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1032377" y="3567436"/>
            <a:ext cx="3273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Lowest expansion (1.366) among valid models. 89.1% Tamil token ratio. SentencePiece on 200+ languages gives strong Tamil subword coverage.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4704661" y="3037086"/>
            <a:ext cx="39822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6"/>
          <p:cNvSpPr/>
          <p:nvPr/>
        </p:nvSpPr>
        <p:spPr>
          <a:xfrm>
            <a:off x="4704661" y="3037086"/>
            <a:ext cx="486600" cy="178320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4704661" y="3037086"/>
            <a:ext cx="486600" cy="178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5279838" y="3128525"/>
            <a:ext cx="3273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OpusMT-mul — Avoid for Tamil NLP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279838" y="3567436"/>
            <a:ext cx="32739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85% single-character Unicode fragmentation. 96 MB memory — 11× more than NLLB. English-centric BPE not suited for Tamil's agglutinative morphology.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1 — Why These Results?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457200" y="1040200"/>
            <a:ext cx="39822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457200" y="1040200"/>
            <a:ext cx="486600" cy="17832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457200" y="1040200"/>
            <a:ext cx="486600" cy="178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1032377" y="1131641"/>
            <a:ext cx="3274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Tamil is Agglutinative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1032377" y="1543123"/>
            <a:ext cx="3274200" cy="11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One Tamil word bundles tense, case, number, and politeness that English expresses as multiple words. European-text tokenizers don't learn long Tamil subword units — structural reason for consistently higher token counts.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4704661" y="1040200"/>
            <a:ext cx="39822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"/>
          <p:cNvSpPr/>
          <p:nvPr/>
        </p:nvSpPr>
        <p:spPr>
          <a:xfrm>
            <a:off x="4704661" y="1040200"/>
            <a:ext cx="486600" cy="178320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4704661" y="1040200"/>
            <a:ext cx="486600" cy="178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5279838" y="1131641"/>
            <a:ext cx="3274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SentencePiece vs BPE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5279838" y="1543123"/>
            <a:ext cx="3274200" cy="11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NLLB / mT5 / MADLAD use SentencePiece on raw Unicode — keeps multi-char Tamil graphemes together (~3 chars/token, low fragmentation). OpusMT uses Marian BPE built on Latin-script data — falls back to character splits on Tamil (0.93 chars/token, 85% single-codepoint).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457200" y="3006172"/>
            <a:ext cx="39822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457200" y="3006172"/>
            <a:ext cx="486600" cy="17832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457200" y="3006172"/>
            <a:ext cx="486600" cy="178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1032377" y="3097612"/>
            <a:ext cx="3274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IndicTrans2 — High Tokens by Design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1032377" y="3509095"/>
            <a:ext cx="3274200" cy="11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IndicProcessor romanizes Tamil input before tokenization. Externally looks worst (1.0 chars/token, 0.86 fragmentation) but still wins sacreBLEU 22.42. High token count is a preprocessing artifact, not a vocabulary weakness.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4704661" y="3006172"/>
            <a:ext cx="3982200" cy="178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4704661" y="3006172"/>
            <a:ext cx="486600" cy="178320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4704661" y="3006172"/>
            <a:ext cx="486600" cy="178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5279838" y="3097612"/>
            <a:ext cx="3274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Vocabulary Coverage → Memory Cost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5279838" y="3509095"/>
            <a:ext cx="3274200" cy="11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Tamil-aware SentencePiece vocab (NLLB/mT5/MADLAD): 9–12 MB. Fragmenting vocab (IndicTrans2/OpusMT): ~100 MB — ≈10× more. Token explosion also increases attention compute as sequence_length².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2 — System Architecture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8" name="Google Shape;158;p8" title="system_architec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3863" y="874795"/>
            <a:ext cx="7036274" cy="411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2 — Buffer Flow Diagram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6" name="Google Shape;166;p9" title="buffer_flow_diagr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887" y="874775"/>
            <a:ext cx="8120225" cy="4116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2 — Demo Results &amp; Testing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0"/>
          <p:cNvSpPr/>
          <p:nvPr/>
        </p:nvSpPr>
        <p:spPr>
          <a:xfrm>
            <a:off x="457200" y="914400"/>
            <a:ext cx="5211900" cy="3910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0"/>
          <p:cNvSpPr/>
          <p:nvPr/>
        </p:nvSpPr>
        <p:spPr>
          <a:xfrm>
            <a:off x="547063" y="1005840"/>
            <a:ext cx="50322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Demo — sample.wav (4 Tamil sentences via gTTS)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0"/>
          <p:cNvSpPr/>
          <p:nvPr/>
        </p:nvSpPr>
        <p:spPr>
          <a:xfrm>
            <a:off x="547063" y="1435600"/>
            <a:ext cx="1033500" cy="594300"/>
          </a:xfrm>
          <a:prstGeom prst="rect">
            <a:avLst/>
          </a:prstGeom>
          <a:solidFill>
            <a:srgbClr val="065A8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1625417" y="1435675"/>
            <a:ext cx="3864000" cy="5943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0"/>
          <p:cNvSpPr/>
          <p:nvPr/>
        </p:nvSpPr>
        <p:spPr>
          <a:xfrm>
            <a:off x="1715286" y="1435608"/>
            <a:ext cx="368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நான் ஒரு மென்பொருள் பொறியாளர் | தமிழ் மொழி மிகவும் அழகானது...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547063" y="2212850"/>
            <a:ext cx="1033500" cy="5943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Transcript: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0"/>
          <p:cNvSpPr/>
          <p:nvPr/>
        </p:nvSpPr>
        <p:spPr>
          <a:xfrm>
            <a:off x="1625422" y="2212848"/>
            <a:ext cx="3864000" cy="5943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"/>
          <p:cNvSpPr/>
          <p:nvPr/>
        </p:nvSpPr>
        <p:spPr>
          <a:xfrm>
            <a:off x="1715286" y="2212848"/>
            <a:ext cx="368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நான் ஒரு மென்பொருள் பொரியாளர் தமிழ் மொழி மிகவும் அழகானது இந்த அமைப்பு...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547063" y="2990100"/>
            <a:ext cx="1033500" cy="5943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Romanized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1" lang="en-US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ASCII</a:t>
            </a:r>
            <a:r>
              <a:rPr b="1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):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1625422" y="2990088"/>
            <a:ext cx="3864000" cy="594300"/>
          </a:xfrm>
          <a:prstGeom prst="rect">
            <a:avLst/>
          </a:prstGeom>
          <a:solidFill>
            <a:srgbClr val="F0F4F8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"/>
          <p:cNvSpPr/>
          <p:nvPr/>
        </p:nvSpPr>
        <p:spPr>
          <a:xfrm>
            <a:off x="1715286" y="2990088"/>
            <a:ext cx="3684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naan oru menporuL poriyaaLar tamiL moLi mikavum aLakaanatu inta amaippuu...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547063" y="3840480"/>
            <a:ext cx="4942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7A8A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5A7A8A"/>
                </a:solidFill>
                <a:latin typeface="Calibri"/>
                <a:ea typeface="Calibri"/>
                <a:cs typeface="Calibri"/>
                <a:sym typeface="Calibri"/>
              </a:rPr>
              <a:t>Custom grapheme-based romanizer produces pure ASCII output safe for any rendering environment.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5943600" y="914400"/>
            <a:ext cx="2743200" cy="39108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0"/>
          <p:cNvSpPr/>
          <p:nvPr/>
        </p:nvSpPr>
        <p:spPr>
          <a:xfrm>
            <a:off x="6032089" y="1005839"/>
            <a:ext cx="25662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Test Results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6383017" y="1389040"/>
            <a:ext cx="1880400" cy="55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/ </a:t>
            </a:r>
            <a:r>
              <a:rPr b="1"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6494256" y="2028230"/>
            <a:ext cx="1590000" cy="2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PASSED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6032100" y="2360596"/>
            <a:ext cx="2566200" cy="23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Buffer Manager</a:t>
            </a:r>
            <a:b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 tests — add, get, full,</a:t>
            </a: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empty, clear, process_all</a:t>
            </a:r>
            <a:b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Transliteration Pipeline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tests </a:t>
            </a: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basic, empty,</a:t>
            </a: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sentence, scheme_info</a:t>
            </a:r>
            <a:b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Utils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 tests — timestamp</a:t>
            </a: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audio validation, format</a:t>
            </a:r>
            <a:endParaRPr b="0" i="0" sz="9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t/>
            </a:r>
            <a:endParaRPr sz="9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lang="en-US" sz="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Audio Splitting</a:t>
            </a:r>
            <a:endParaRPr b="1"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76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 tests — short-file passthrough, 65s → 3 chunks, cleanup, safety belt</a:t>
            </a: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76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76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Chunk Batching    </a:t>
            </a:r>
            <a:endParaRPr b="1"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76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 test  — N &gt; maxsize batched correctly (no truncation)</a:t>
            </a:r>
            <a:endParaRPr sz="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Limitations &amp; Future Work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/>
          <p:nvPr/>
        </p:nvSpPr>
        <p:spPr>
          <a:xfrm>
            <a:off x="457200" y="694944"/>
            <a:ext cx="8229600" cy="2743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"/>
          <p:cNvSpPr/>
          <p:nvPr/>
        </p:nvSpPr>
        <p:spPr>
          <a:xfrm>
            <a:off x="457200" y="914400"/>
            <a:ext cx="3840600" cy="274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1"/>
          <p:cNvSpPr/>
          <p:nvPr/>
        </p:nvSpPr>
        <p:spPr>
          <a:xfrm>
            <a:off x="457200" y="914400"/>
            <a:ext cx="3840600" cy="63900"/>
          </a:xfrm>
          <a:prstGeom prst="rect">
            <a:avLst/>
          </a:prstGeom>
          <a:solidFill>
            <a:srgbClr val="065A82"/>
          </a:solidFill>
          <a:ln cap="flat" cmpd="sng" w="1270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1"/>
          <p:cNvSpPr/>
          <p:nvPr/>
        </p:nvSpPr>
        <p:spPr>
          <a:xfrm>
            <a:off x="546513" y="1005840"/>
            <a:ext cx="3661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1 — Limitations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1"/>
          <p:cNvSpPr/>
          <p:nvPr/>
        </p:nvSpPr>
        <p:spPr>
          <a:xfrm>
            <a:off x="546513" y="1417320"/>
            <a:ext cx="36618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Parts B &amp; C use only </a:t>
            </a: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10 sentences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— small-sample averages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Memory footprint is </a:t>
            </a: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illustrative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(hidden=768, fp32 assumed)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mT5-base is not MT fine-tuned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— tokenizer only comparison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Two model substitutions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made (opus-mt-en-ta → en-mul,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madlad400-1b → 3b)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CPU-only experiments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— measures tokenizer behaviour, not inference speed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4846325" y="914400"/>
            <a:ext cx="3840600" cy="274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"/>
          <p:cNvSpPr/>
          <p:nvPr/>
        </p:nvSpPr>
        <p:spPr>
          <a:xfrm>
            <a:off x="4846325" y="914400"/>
            <a:ext cx="3840600" cy="6390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4935641" y="1005840"/>
            <a:ext cx="3662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Project 2 — Limitations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4935641" y="1417320"/>
            <a:ext cx="36621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Default device: CPU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, fp16=False — GPU opt-in via model_config.py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Whisper-medium: ~1.5 GB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cold-start download</a:t>
            </a:r>
            <a:b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Fixed-duration chunks without overlap</a:t>
            </a:r>
            <a:r>
              <a:rPr lang="en-US" sz="1000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— minor seam artifacts possible at chunk boundaries</a:t>
            </a:r>
            <a:endParaRPr sz="1000">
              <a:solidFill>
                <a:srgbClr val="1A2A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1A2A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Romanization fixed to </a:t>
            </a:r>
            <a:r>
              <a:rPr b="1" lang="en-US" sz="1000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custom Tamil-aware ASCII </a:t>
            </a: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scheme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— single scheme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457200" y="3794750"/>
            <a:ext cx="8229600" cy="1126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1"/>
          <p:cNvSpPr/>
          <p:nvPr/>
        </p:nvSpPr>
        <p:spPr>
          <a:xfrm>
            <a:off x="457210" y="3794758"/>
            <a:ext cx="8229600" cy="63900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/>
          <p:nvPr/>
        </p:nvSpPr>
        <p:spPr>
          <a:xfrm>
            <a:off x="546661" y="3915801"/>
            <a:ext cx="8050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546661" y="4224523"/>
            <a:ext cx="80508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Streaming ASR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over chunked PCM audio (with overlap)  •  </a:t>
            </a: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User-selectable romanization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(IAST / ITRANS / Velthuis)  •  </a:t>
            </a: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Latency in UI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 •  </a:t>
            </a:r>
            <a:r>
              <a:rPr b="1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Wider sentence sample</a:t>
            </a:r>
            <a:r>
              <a:rPr b="0" i="0" lang="en-US" sz="1000" u="none" cap="none" strike="noStrike">
                <a:solidFill>
                  <a:srgbClr val="1A2A3A"/>
                </a:solidFill>
                <a:latin typeface="Calibri"/>
                <a:ea typeface="Calibri"/>
                <a:cs typeface="Calibri"/>
                <a:sym typeface="Calibri"/>
              </a:rPr>
              <a:t> for Parts B &amp; C across multiple FLORES domains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5A82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2"/>
          <p:cNvSpPr/>
          <p:nvPr/>
        </p:nvSpPr>
        <p:spPr>
          <a:xfrm>
            <a:off x="554100" y="265601"/>
            <a:ext cx="80178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2"/>
          <p:cNvSpPr/>
          <p:nvPr/>
        </p:nvSpPr>
        <p:spPr>
          <a:xfrm>
            <a:off x="554100" y="1081153"/>
            <a:ext cx="3564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559"/>
              <a:buFont typeface="Calibri"/>
              <a:buNone/>
            </a:pPr>
            <a:r>
              <a:rPr b="1" i="0" lang="en-US" sz="1559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✦</a:t>
            </a:r>
            <a:endParaRPr b="0" i="0" sz="15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/>
          <p:nvPr/>
        </p:nvSpPr>
        <p:spPr>
          <a:xfrm>
            <a:off x="999530" y="1081153"/>
            <a:ext cx="75723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64"/>
              <a:buFont typeface="Calibri"/>
              <a:buNone/>
            </a:pPr>
            <a:r>
              <a:rPr b="0" i="0" lang="en-US" sz="136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IndicTrans2 achieves sacreBLEU 22.42 (BP 0.9638) — strongest English→Tamil translation quality</a:t>
            </a:r>
            <a:endParaRPr b="0" i="0" sz="136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2"/>
          <p:cNvSpPr/>
          <p:nvPr/>
        </p:nvSpPr>
        <p:spPr>
          <a:xfrm>
            <a:off x="554100" y="1749298"/>
            <a:ext cx="3564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559"/>
              <a:buFont typeface="Calibri"/>
              <a:buNone/>
            </a:pPr>
            <a:r>
              <a:rPr b="1" i="0" lang="en-US" sz="1559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✦</a:t>
            </a:r>
            <a:endParaRPr b="0" i="0" sz="15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2"/>
          <p:cNvSpPr/>
          <p:nvPr/>
        </p:nvSpPr>
        <p:spPr>
          <a:xfrm>
            <a:off x="999530" y="1749298"/>
            <a:ext cx="75723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64"/>
              <a:buFont typeface="Calibri"/>
              <a:buNone/>
            </a:pPr>
            <a:r>
              <a:rPr b="0" i="0" lang="en-US" sz="136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NLLB-600M provides the best token efficiency for valid Tamil output — expansion ratio 1.366</a:t>
            </a:r>
            <a:endParaRPr b="0" i="0" sz="136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2"/>
          <p:cNvSpPr/>
          <p:nvPr/>
        </p:nvSpPr>
        <p:spPr>
          <a:xfrm>
            <a:off x="554100" y="2417444"/>
            <a:ext cx="3564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559"/>
              <a:buFont typeface="Calibri"/>
              <a:buNone/>
            </a:pPr>
            <a:r>
              <a:rPr b="1" i="0" lang="en-US" sz="1559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✦</a:t>
            </a:r>
            <a:endParaRPr b="0" i="0" sz="15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999530" y="2417444"/>
            <a:ext cx="75723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64"/>
              <a:buFont typeface="Calibri"/>
              <a:buNone/>
            </a:pPr>
            <a:r>
              <a:rPr b="0" i="0" lang="en-US" sz="136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Tokenizer efficiency ≠ translation quality — the key analytical finding across Parts B and C</a:t>
            </a:r>
            <a:endParaRPr b="0" i="0" sz="136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554100" y="3085590"/>
            <a:ext cx="3564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559"/>
              <a:buFont typeface="Calibri"/>
              <a:buNone/>
            </a:pPr>
            <a:r>
              <a:rPr b="1" i="0" lang="en-US" sz="1559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✦</a:t>
            </a:r>
            <a:endParaRPr b="0" i="0" sz="15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2"/>
          <p:cNvSpPr/>
          <p:nvPr/>
        </p:nvSpPr>
        <p:spPr>
          <a:xfrm>
            <a:off x="999530" y="3085590"/>
            <a:ext cx="75723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64"/>
              <a:buFont typeface="Calibri"/>
              <a:buNone/>
            </a:pPr>
            <a:r>
              <a:rPr b="0" i="0" lang="en-US" sz="136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Full ASR pipeline deployed — Whisper-medium + </a:t>
            </a:r>
            <a:r>
              <a:rPr lang="en-US" sz="1364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custom Tamil ASCII romanizer</a:t>
            </a:r>
            <a:r>
              <a:rPr b="0" i="0" lang="en-US" sz="136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+ Gradio + Docker port 7860</a:t>
            </a:r>
            <a:endParaRPr b="0" i="0" sz="136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554100" y="3753735"/>
            <a:ext cx="3564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559"/>
              <a:buFont typeface="Calibri"/>
              <a:buNone/>
            </a:pPr>
            <a:r>
              <a:rPr b="1" i="0" lang="en-US" sz="1559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✦</a:t>
            </a:r>
            <a:endParaRPr b="0" i="0" sz="15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999530" y="3753735"/>
            <a:ext cx="75723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4500" lIns="89075" spcFirstLastPara="1" rIns="89075" wrap="square" tIns="44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64"/>
              <a:buFont typeface="Calibri"/>
              <a:buNone/>
            </a:pPr>
            <a:r>
              <a:rPr lang="en-US" sz="1364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b="0" i="0" lang="en-US" sz="136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sz="1364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b="0" i="0" lang="en-US" sz="136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unit tests passed — BufferManager, TransliterationPipeline, Utils, AudioSplitting, ChunkBatching fully validated</a:t>
            </a:r>
            <a:endParaRPr b="0" i="0" sz="136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2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Round 2 Hands-On Projects  |  Tamizh Internship  | 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2026-05-13T11:31:25Z</dcterms:created>
  <dc:creator>Tamizh Internship</dc:creator>
</cp:coreProperties>
</file>