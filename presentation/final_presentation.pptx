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8IJxB6RxiGNv/kwhRfxyEZhnh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485537-3454-4B1E-8CA2-5F550A3058AC}">
  <a:tblStyle styleId="{15485537-3454-4B1E-8CA2-5F550A3058A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" y="1005840"/>
            <a:ext cx="78638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Tamil ASR &amp; Translation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2875591"/>
            <a:ext cx="786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Tamizh Internship - Round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914400" y="3703320"/>
            <a:ext cx="3291840" cy="594360"/>
          </a:xfrm>
          <a:prstGeom prst="roundRect">
            <a:avLst>
              <a:gd fmla="val 15385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914400" y="370332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1: Translation Evaluation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937760" y="3703320"/>
            <a:ext cx="3291840" cy="594360"/>
          </a:xfrm>
          <a:prstGeom prst="roundRect">
            <a:avLst>
              <a:gd fmla="val 15385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4937760" y="3703320"/>
            <a:ext cx="3291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2: ASR + Transliteration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694944"/>
            <a:ext cx="8229600" cy="274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57200" y="914400"/>
            <a:ext cx="3840600" cy="393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57200" y="914400"/>
            <a:ext cx="3840600" cy="639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546514" y="1005840"/>
            <a:ext cx="3661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1" i="0" lang="en-US" sz="1600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Project</a:t>
            </a: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6514" y="1417321"/>
            <a:ext cx="366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Evaluation of Indic Translation Models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6514" y="1828801"/>
            <a:ext cx="36618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Part A: </a:t>
            </a:r>
            <a: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Batch Translation &amp; sacreBLEU</a:t>
            </a:r>
            <a:b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Part B: </a:t>
            </a:r>
            <a: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Token-Based Comparative Analysis</a:t>
            </a:r>
            <a:b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Part C: </a:t>
            </a:r>
            <a: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Indic Token Behavior Analysis</a:t>
            </a:r>
            <a:b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Dataset: </a:t>
            </a:r>
            <a: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FLORES-200 devtest (1,012 sentences)</a:t>
            </a:r>
            <a:b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Models: </a:t>
            </a:r>
            <a: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5 translation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846325" y="914400"/>
            <a:ext cx="3840600" cy="393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846325" y="914400"/>
            <a:ext cx="3840600" cy="639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935641" y="1005840"/>
            <a:ext cx="3662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Project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935641" y="1417321"/>
            <a:ext cx="3662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ASR-Based Transcription &amp; Transliteration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935641" y="1828801"/>
            <a:ext cx="3662100" cy="28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ASR: </a:t>
            </a:r>
            <a: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openai/whisper-medium</a:t>
            </a:r>
            <a:b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Transliteration: </a:t>
            </a:r>
            <a: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custom Tamil</a:t>
            </a:r>
            <a:r>
              <a:rPr lang="en-US" sz="11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-aware ASCII romanizer</a:t>
            </a:r>
            <a:b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Interface: </a:t>
            </a:r>
            <a: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Gradio (port 7860)</a:t>
            </a:r>
            <a:b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Buffer: </a:t>
            </a:r>
            <a: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queue.Queue(maxsize=10)</a:t>
            </a:r>
            <a:b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Deploy: </a:t>
            </a:r>
            <a: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Docker + docker-compose</a:t>
            </a:r>
            <a:b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Tests: </a:t>
            </a:r>
            <a:r>
              <a:rPr b="0" i="0" lang="en-US" sz="11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15/15 passed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Project 1 — Dataset &amp; Setup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57200" y="694944"/>
            <a:ext cx="8229600" cy="274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57188" y="914400"/>
            <a:ext cx="3931800" cy="2011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548628" y="978150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Dataset — FLORES-200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48628" y="1280693"/>
            <a:ext cx="3749100" cy="15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Char char="●"/>
            </a:pPr>
            <a:r>
              <a:rPr b="1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Source: </a:t>
            </a: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FLORES-200 devtest split</a:t>
            </a:r>
            <a:b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Char char="●"/>
            </a:pPr>
            <a:r>
              <a:rPr b="1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Total: </a:t>
            </a: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1,012 sentences</a:t>
            </a:r>
            <a:b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Char char="●"/>
            </a:pPr>
            <a:r>
              <a:rPr b="1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Used: </a:t>
            </a: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100 (Part A), 10 (Parts B &amp; C)</a:t>
            </a:r>
            <a:b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Char char="●"/>
            </a:pPr>
            <a:r>
              <a:rPr b="1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Domains: </a:t>
            </a: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wikinews, wikibooks, wikivoyage</a:t>
            </a:r>
            <a:b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Char char="●"/>
            </a:pPr>
            <a:r>
              <a:rPr b="1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Ref: </a:t>
            </a: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Human-verified Tamil translations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754995" y="1038975"/>
            <a:ext cx="3931800" cy="3383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846435" y="1130415"/>
            <a:ext cx="3749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5 Models Compared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" name="Google Shape;53;p3"/>
          <p:cNvGraphicFramePr/>
          <p:nvPr/>
        </p:nvGraphicFramePr>
        <p:xfrm>
          <a:off x="4846435" y="154189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{15485537-3454-4B1E-8CA2-5F550A3058AC}</a:tableStyleId>
              </a:tblPr>
              <a:tblGrid>
                <a:gridCol w="1188725"/>
                <a:gridCol w="25603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Label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HuggingFace ID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IndicTrans2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C7293"/>
                          </a:solidFill>
                        </a:rPr>
                        <a:t>ai4bharat/indictrans2-en-indic-1B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NLLB-600M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C7293"/>
                          </a:solidFill>
                        </a:rPr>
                        <a:t>facebook/nllb-200-distilled-600M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mT5-base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C7293"/>
                          </a:solidFill>
                        </a:rPr>
                        <a:t>google/mt5-base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OpusMT-mul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C7293"/>
                          </a:solidFill>
                        </a:rPr>
                        <a:t>Helsinki-NLP/opus-mt-en-mul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MADLAD-3B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1C7293"/>
                          </a:solidFill>
                        </a:rPr>
                        <a:t>google/madlad400-3b-mt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54" name="Google Shape;54;p3"/>
          <p:cNvSpPr/>
          <p:nvPr/>
        </p:nvSpPr>
        <p:spPr>
          <a:xfrm>
            <a:off x="457188" y="3063240"/>
            <a:ext cx="3931800" cy="164580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FFD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548628" y="3147757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⚠ Model Substitution Notes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48628" y="3491175"/>
            <a:ext cx="37491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opus-mt-en-ta</a:t>
            </a:r>
            <a:r>
              <a:rPr b="0" i="0" lang="en-US" sz="9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 → opus-mt-en-mul</a:t>
            </a:r>
            <a:br>
              <a:rPr b="0" i="0" lang="en-US" sz="9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Calibri"/>
              <a:buChar char="❖"/>
            </a:pPr>
            <a:r>
              <a:rPr b="0" i="0" lang="en-US" sz="9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Model does not exist on HuggingFace. </a:t>
            </a:r>
            <a:endParaRPr b="0" i="0" sz="900" u="none" cap="none" strike="noStrike">
              <a:solidFill>
                <a:srgbClr val="92400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Calibri"/>
              <a:buChar char="❖"/>
            </a:pPr>
            <a:r>
              <a:rPr b="0" i="0" lang="en-US" sz="9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en-mul uses the same</a:t>
            </a:r>
            <a:r>
              <a:rPr lang="en-US" sz="9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90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MarianMT architecture and supports Tamil as target.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Project 1 — Methodology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457200" y="694944"/>
            <a:ext cx="8229600" cy="274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457200" y="944003"/>
            <a:ext cx="2674200" cy="3623400"/>
          </a:xfrm>
          <a:prstGeom prst="rect">
            <a:avLst/>
          </a:prstGeom>
          <a:solidFill>
            <a:srgbClr val="FFFFFF"/>
          </a:solidFill>
          <a:ln cap="flat" cmpd="sng" w="11975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50" lIns="86250" spcFirstLastPara="1" rIns="86250" wrap="square" tIns="86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457200" y="944003"/>
            <a:ext cx="2674200" cy="60300"/>
          </a:xfrm>
          <a:prstGeom prst="rect">
            <a:avLst/>
          </a:prstGeom>
          <a:solidFill>
            <a:srgbClr val="065A82"/>
          </a:solidFill>
          <a:ln cap="flat" cmpd="sng" w="11975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50" lIns="86250" spcFirstLastPara="1" rIns="86250" wrap="square" tIns="86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543463" y="1030266"/>
            <a:ext cx="25017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125" lIns="86250" spcFirstLastPara="1" rIns="86250" wrap="square" tIns="4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43"/>
              <a:buFont typeface="Calibri"/>
              <a:buNone/>
            </a:pPr>
            <a:r>
              <a:rPr b="1" i="0" lang="en-US" sz="943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Part A — Batch Translation &amp; sacreBLEU</a:t>
            </a:r>
            <a:endParaRPr b="0" i="0" sz="9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43463" y="1504715"/>
            <a:ext cx="25017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25" lIns="86250" spcFirstLastPara="1" rIns="86250" wrap="square" tIns="4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96"/>
              <a:buFont typeface="Calibri"/>
              <a:buNone/>
            </a:pPr>
            <a:r>
              <a:rPr b="1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Model: </a:t>
            </a:r>
            <a: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ai4bharat/indictrans2-en-indic-1B (1B params, loaded once)</a:t>
            </a:r>
            <a:b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96"/>
              <a:buFont typeface="Calibri"/>
              <a:buNone/>
            </a:pPr>
            <a:r>
              <a:rPr b="1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Preprocessor: </a:t>
            </a:r>
            <a: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AI4Bharat IndicProcessor (eng_Latn → tam_Taml)</a:t>
            </a:r>
            <a:b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96"/>
              <a:buFont typeface="Calibri"/>
              <a:buNone/>
            </a:pPr>
            <a:r>
              <a:rPr b="1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Input: </a:t>
            </a:r>
            <a: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First 100 English sentences (FLORES-200 devtest)</a:t>
            </a:r>
            <a:b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96"/>
              <a:buFont typeface="Calibri"/>
              <a:buNone/>
            </a:pPr>
            <a:r>
              <a:rPr b="1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Metric: </a:t>
            </a:r>
            <a: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sacreBLEU corpus score + BP + length ratio</a:t>
            </a:r>
            <a:b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96"/>
              <a:buFont typeface="Calibri"/>
              <a:buNone/>
            </a:pPr>
            <a:r>
              <a:rPr b="1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Outputs: </a:t>
            </a:r>
            <a: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translation_outputs.csv, sacrebleu_results.csv</a:t>
            </a:r>
            <a:endParaRPr b="0" i="0" sz="8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234877" y="944003"/>
            <a:ext cx="2674200" cy="3623400"/>
          </a:xfrm>
          <a:prstGeom prst="rect">
            <a:avLst/>
          </a:prstGeom>
          <a:solidFill>
            <a:srgbClr val="FFFFFF"/>
          </a:solidFill>
          <a:ln cap="flat" cmpd="sng" w="11975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50" lIns="86250" spcFirstLastPara="1" rIns="86250" wrap="square" tIns="86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234877" y="944003"/>
            <a:ext cx="2674200" cy="60300"/>
          </a:xfrm>
          <a:prstGeom prst="rect">
            <a:avLst/>
          </a:prstGeom>
          <a:solidFill>
            <a:srgbClr val="1C7293"/>
          </a:solidFill>
          <a:ln cap="flat" cmpd="sng" w="1197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50" lIns="86250" spcFirstLastPara="1" rIns="86250" wrap="square" tIns="86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3321140" y="1030266"/>
            <a:ext cx="25017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125" lIns="86250" spcFirstLastPara="1" rIns="86250" wrap="square" tIns="4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43"/>
              <a:buFont typeface="Calibri"/>
              <a:buNone/>
            </a:pPr>
            <a:r>
              <a:rPr b="1" i="0" lang="en-US" sz="943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Part B — Token-Based Comparative Analysis</a:t>
            </a:r>
            <a:endParaRPr b="0" i="0" sz="9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3321140" y="1504715"/>
            <a:ext cx="25017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25" lIns="86250" spcFirstLastPara="1" rIns="86250" wrap="square" tIns="4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96"/>
              <a:buFont typeface="Calibri"/>
              <a:buNone/>
            </a:pPr>
            <a:r>
              <a:rPr b="1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Scope: </a:t>
            </a:r>
            <a: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5 tokenizers × 10 English sentences</a:t>
            </a:r>
            <a:b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96"/>
              <a:buFont typeface="Calibri"/>
              <a:buNone/>
            </a:pPr>
            <a:r>
              <a:rPr b="1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Metrics: </a:t>
            </a:r>
            <a: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source_token_count, target_token_count</a:t>
            </a:r>
            <a:b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96"/>
              <a:buFont typeface="Calibri"/>
              <a:buNone/>
            </a:pPr>
            <a: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expansion_ratio = target / source</a:t>
            </a:r>
            <a:b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96"/>
              <a:buFont typeface="Calibri"/>
              <a:buNone/>
            </a:pPr>
            <a: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avg_word_length, subword_fragmentation, unknown_token_rate</a:t>
            </a:r>
            <a:b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96"/>
              <a:buFont typeface="Calibri"/>
              <a:buNone/>
            </a:pPr>
            <a:r>
              <a:rPr b="1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EDA: </a:t>
            </a:r>
            <a: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histogram, boxplot, scatter, bar chart</a:t>
            </a:r>
            <a:endParaRPr b="0" i="0" sz="8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012554" y="944003"/>
            <a:ext cx="2674200" cy="3623400"/>
          </a:xfrm>
          <a:prstGeom prst="rect">
            <a:avLst/>
          </a:prstGeom>
          <a:solidFill>
            <a:srgbClr val="FFFFFF"/>
          </a:solidFill>
          <a:ln cap="flat" cmpd="sng" w="11975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50" lIns="86250" spcFirstLastPara="1" rIns="86250" wrap="square" tIns="86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012554" y="944003"/>
            <a:ext cx="2674200" cy="60300"/>
          </a:xfrm>
          <a:prstGeom prst="rect">
            <a:avLst/>
          </a:prstGeom>
          <a:solidFill>
            <a:srgbClr val="065A82"/>
          </a:solidFill>
          <a:ln cap="flat" cmpd="sng" w="11975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250" lIns="86250" spcFirstLastPara="1" rIns="86250" wrap="square" tIns="86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6098817" y="1030266"/>
            <a:ext cx="25017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125" lIns="86250" spcFirstLastPara="1" rIns="86250" wrap="square" tIns="4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943"/>
              <a:buFont typeface="Calibri"/>
              <a:buNone/>
            </a:pPr>
            <a:r>
              <a:rPr b="1" i="0" lang="en-US" sz="943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Part C — Indic Token Behavior</a:t>
            </a:r>
            <a:endParaRPr b="0" i="0" sz="94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098817" y="1504715"/>
            <a:ext cx="25017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3125" lIns="86250" spcFirstLastPara="1" rIns="86250" wrap="square" tIns="43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96"/>
              <a:buFont typeface="Calibri"/>
              <a:buNone/>
            </a:pPr>
            <a:r>
              <a:rPr b="1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Scope: </a:t>
            </a:r>
            <a: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Same 5 tokenizers on Tamil reference sentences</a:t>
            </a:r>
            <a:b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96"/>
              <a:buFont typeface="Calibri"/>
              <a:buNone/>
            </a:pPr>
            <a:r>
              <a:rPr b="1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Metrics: </a:t>
            </a:r>
            <a: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chars/token, Unicode fragmentation rate</a:t>
            </a:r>
            <a:b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96"/>
              <a:buFont typeface="Calibri"/>
              <a:buNone/>
            </a:pPr>
            <a: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rare-token rate, Tamil vocab coverage</a:t>
            </a:r>
            <a:b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96"/>
              <a:buFont typeface="Calibri"/>
              <a:buNone/>
            </a:pPr>
            <a:r>
              <a:rPr b="1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Memory: </a:t>
            </a:r>
            <a: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Illustrative footprint (hidden=768, fp32)</a:t>
            </a:r>
            <a:b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896"/>
              <a:buFont typeface="Calibri"/>
              <a:buNone/>
            </a:pPr>
            <a:r>
              <a:rPr b="1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Outputs: </a:t>
            </a:r>
            <a:r>
              <a:rPr b="0" i="0" lang="en-US" sz="896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6 plots under part_c_indic_token_behavior/plots/</a:t>
            </a:r>
            <a:endParaRPr b="0" i="0" sz="8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Project 1 — Results Summary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7200" y="694944"/>
            <a:ext cx="8229600" cy="274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457256" y="917114"/>
            <a:ext cx="2275800" cy="2173200"/>
          </a:xfrm>
          <a:prstGeom prst="rect">
            <a:avLst/>
          </a:prstGeom>
          <a:solidFill>
            <a:srgbClr val="065A82"/>
          </a:solidFill>
          <a:ln cap="flat" cmpd="sng" w="11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275" lIns="84275" spcFirstLastPara="1" rIns="84275" wrap="square" tIns="8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541548" y="997605"/>
            <a:ext cx="21072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125" lIns="84275" spcFirstLastPara="1" rIns="84275" wrap="square" tIns="421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98"/>
              <a:buFont typeface="Calibri"/>
              <a:buNone/>
            </a:pPr>
            <a:r>
              <a:rPr b="1" i="0" lang="en-US" sz="1198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Part A</a:t>
            </a:r>
            <a:endParaRPr b="0" i="0" sz="11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41548" y="1279322"/>
            <a:ext cx="21072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125" lIns="84275" spcFirstLastPara="1" rIns="84275" wrap="square" tIns="42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2"/>
              <a:buFont typeface="Calibri"/>
              <a:buNone/>
            </a:pPr>
            <a:r>
              <a:rPr b="0" i="0" lang="en-US" sz="92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sacreBLEU Score</a:t>
            </a:r>
            <a:endParaRPr b="0" i="0" sz="9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541548" y="1496647"/>
            <a:ext cx="210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125" lIns="84275" spcFirstLastPara="1" rIns="84275" wrap="square" tIns="42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56"/>
              <a:buFont typeface="Calibri"/>
              <a:buNone/>
            </a:pPr>
            <a:r>
              <a:rPr b="1" i="0" lang="en-US" sz="405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22.42</a:t>
            </a:r>
            <a:endParaRPr b="0" i="0" sz="4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41548" y="2027885"/>
            <a:ext cx="2107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125" lIns="84275" spcFirstLastPara="1" rIns="84275" wrap="square" tIns="42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830"/>
              <a:buFont typeface="Calibri"/>
              <a:buNone/>
            </a:pPr>
            <a:r>
              <a:rPr b="0" i="0" lang="en-US" sz="83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GOOD range (15–25)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41548" y="2245210"/>
            <a:ext cx="21072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125" lIns="84275" spcFirstLastPara="1" rIns="84275" wrap="square" tIns="42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Calibri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BP: </a:t>
            </a:r>
            <a:r>
              <a:rPr b="0" i="0" lang="en-US" sz="8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0.9638</a:t>
            </a:r>
            <a:br>
              <a:rPr b="0" i="0" lang="en-US" sz="8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0"/>
              <a:buFont typeface="Calibri"/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Ratio: </a:t>
            </a:r>
            <a:r>
              <a:rPr b="0" i="0" lang="en-US" sz="8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0.9645</a:t>
            </a:r>
            <a:endParaRPr b="0" i="0" sz="8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585596" y="917173"/>
            <a:ext cx="5101200" cy="217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3677046" y="990323"/>
            <a:ext cx="49173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Part B — Token Expansion Ratio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1" name="Google Shape;91;p5"/>
          <p:cNvGraphicFramePr/>
          <p:nvPr/>
        </p:nvGraphicFramePr>
        <p:xfrm>
          <a:off x="3677046" y="13469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{15485537-3454-4B1E-8CA2-5F550A3058AC}</a:tableStyleId>
              </a:tblPr>
              <a:tblGrid>
                <a:gridCol w="1583525"/>
                <a:gridCol w="2166950"/>
                <a:gridCol w="1166800"/>
              </a:tblGrid>
              <a:tr h="26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Avg Expansion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Valid Tamil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26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IndicTrans2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5.256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✅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NLLB-600M ★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7D32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E7D32"/>
                          </a:solidFill>
                        </a:rPr>
                        <a:t>1.366 (lowest valid)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✅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5E9"/>
                    </a:solidFill>
                  </a:tcPr>
                </a:tc>
              </a:tr>
              <a:tr h="26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MADLAD-3B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1.641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✅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OpusMT-mul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2.421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✅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mT5-base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C0392B"/>
                          </a:solidFill>
                        </a:rPr>
                        <a:t>0.200 ⚠ (not MT)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❌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preencoded.png"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56" y="3285075"/>
            <a:ext cx="3704749" cy="164662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3" name="Google Shape;93;p5"/>
          <p:cNvSpPr/>
          <p:nvPr/>
        </p:nvSpPr>
        <p:spPr>
          <a:xfrm>
            <a:off x="457206" y="4936725"/>
            <a:ext cx="3704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7A8A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  <a:t>Fig: Avg expansion ratio per model (Part B)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572000" y="3285150"/>
            <a:ext cx="4114800" cy="1646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95" name="Google Shape;95;p5"/>
          <p:cNvSpPr/>
          <p:nvPr/>
        </p:nvSpPr>
        <p:spPr>
          <a:xfrm>
            <a:off x="4663437" y="3337463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Part C — Indic Token Behavior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6" name="Google Shape;96;p5"/>
          <p:cNvGraphicFramePr/>
          <p:nvPr/>
        </p:nvGraphicFramePr>
        <p:xfrm>
          <a:off x="4760359" y="35882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{15485537-3454-4B1E-8CA2-5F550A3058AC}</a:tableStyleId>
              </a:tblPr>
              <a:tblGrid>
                <a:gridCol w="1303975"/>
                <a:gridCol w="869325"/>
                <a:gridCol w="738925"/>
                <a:gridCol w="825850"/>
              </a:tblGrid>
              <a:tr h="19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Chars/Tok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Frag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FFFFFF"/>
                          </a:solidFill>
                        </a:rPr>
                        <a:t>Mem(MB)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19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IndicTrans2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1.004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0.861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102.3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8"/>
                    </a:solidFill>
                  </a:tcPr>
                </a:tc>
              </a:tr>
              <a:tr h="19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800" u="none" cap="none" strike="noStrike">
                          <a:solidFill>
                            <a:srgbClr val="000000"/>
                          </a:solidFill>
                        </a:rPr>
                        <a:t>NLLB-600M ★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3.035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0.241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9.1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mT5-base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3.097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0.148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8.8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8"/>
                    </a:solidFill>
                  </a:tcPr>
                </a:tc>
              </a:tr>
              <a:tr h="19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OpusMT-mul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0.929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0.850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96.1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MADLAD-3B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2.678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0.237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800" u="none" cap="none" strike="noStrike">
                          <a:solidFill>
                            <a:srgbClr val="000000"/>
                          </a:solidFill>
                        </a:rPr>
                        <a:t>11.6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8DC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Key Insights — Project 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57200" y="694944"/>
            <a:ext cx="8229600" cy="274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457200" y="1025411"/>
            <a:ext cx="39822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457200" y="1025411"/>
            <a:ext cx="486600" cy="17832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457200" y="1025411"/>
            <a:ext cx="486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032377" y="1116851"/>
            <a:ext cx="3273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Tokenizer Efficiency ≠ Translation Quality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032377" y="1555761"/>
            <a:ext cx="3273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mT5-base ranks best on tokenizer metrics but produces invalid Tamil translations. IndicTrans2 achieves BLEU 22.42 despite high token counts due to internal romanization.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4704661" y="1025411"/>
            <a:ext cx="39822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704661" y="1025411"/>
            <a:ext cx="486600" cy="17832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4704661" y="1025411"/>
            <a:ext cx="486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5279838" y="1116851"/>
            <a:ext cx="3273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IndicTrans2 — Best Translation Quality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279838" y="1555761"/>
            <a:ext cx="3273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sacreBLEU 22.42 (BP 0.9638, ratio 0.9645). IndicProcessor romanization explains high token counts — not a vocabulary weakness.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" y="3037086"/>
            <a:ext cx="39822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57200" y="3037086"/>
            <a:ext cx="486600" cy="17832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57200" y="3037086"/>
            <a:ext cx="486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1032377" y="3128525"/>
            <a:ext cx="3273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NLLB-600M — Best Real-World Balance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032377" y="3567436"/>
            <a:ext cx="3273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Lowest expansion (1.366) among valid models. 89.1% Tamil token ratio. SentencePiece on 200+ languages gives strong Tamil subword coverage.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704661" y="3037086"/>
            <a:ext cx="39822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4704661" y="3037086"/>
            <a:ext cx="486600" cy="17832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4704661" y="3037086"/>
            <a:ext cx="486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5279838" y="3128525"/>
            <a:ext cx="3273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OpusMT-mul — Avoid for Tamil NLP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279838" y="3567436"/>
            <a:ext cx="3273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85% single-character Unicode fragmentation. 96 MB memory — 11× more than NLLB. English-centric BPE not suited for Tamil's agglutinative morphology.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Project 1 — Why These Results?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57200" y="694944"/>
            <a:ext cx="8229600" cy="274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57200" y="1040200"/>
            <a:ext cx="39822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57200" y="1040200"/>
            <a:ext cx="486600" cy="17832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57200" y="1040200"/>
            <a:ext cx="486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032377" y="1131641"/>
            <a:ext cx="327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Tamil is Agglutinative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032377" y="1543123"/>
            <a:ext cx="32742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One Tamil word bundles tense, case, number, and politeness that English expresses as multiple words. European-text tokenizers don't learn long Tamil subword units — structural reason for consistently higher token counts.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4704661" y="1040200"/>
            <a:ext cx="39822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4704661" y="1040200"/>
            <a:ext cx="486600" cy="17832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704661" y="1040200"/>
            <a:ext cx="486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5279838" y="1131641"/>
            <a:ext cx="327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SentencePiece vs BPE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279838" y="1543123"/>
            <a:ext cx="32742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NLLB / mT5 / MADLAD use SentencePiece on raw Unicode — keeps multi-char Tamil graphemes together (~3 chars/token, low fragmentation). OpusMT uses Marian BPE built on Latin-script data — falls back to character splits on Tamil (0.93 chars/token, 85% single-codepoint).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57200" y="3006172"/>
            <a:ext cx="39822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57200" y="3006172"/>
            <a:ext cx="486600" cy="17832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457200" y="3006172"/>
            <a:ext cx="486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032377" y="3097612"/>
            <a:ext cx="327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IndicTrans2 — High Tokens by Design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032377" y="3509095"/>
            <a:ext cx="32742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IndicProcessor romanizes Tamil input before tokenization. Externally looks worst (1.0 chars/token, 0.86 fragmentation) but still wins sacreBLEU 22.42. High token count is a preprocessing artifact, not a vocabulary weakness.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704661" y="3006172"/>
            <a:ext cx="3982200" cy="178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4704661" y="3006172"/>
            <a:ext cx="486600" cy="17832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704661" y="3006172"/>
            <a:ext cx="4866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279838" y="3097612"/>
            <a:ext cx="3274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Vocabulary Coverage → Memory 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279838" y="3509095"/>
            <a:ext cx="3274200" cy="11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Tamil-aware SentencePiece vocab (NLLB/mT5/MADLAD): 9–12 MB. Fragmenting vocab (IndicTrans2/OpusMT): ~100 MB — ≈10× more. Token explosion also increases attention compute as sequence_length².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Project 2 — System Architecture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57200" y="694944"/>
            <a:ext cx="8229600" cy="274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625" y="939350"/>
            <a:ext cx="7614751" cy="397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Project 2 — Buffer Flow Diagram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457200" y="694944"/>
            <a:ext cx="8229600" cy="274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200" y="926225"/>
            <a:ext cx="7831626" cy="399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Project 2 — Demo Results &amp; Testing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457200" y="694944"/>
            <a:ext cx="8229600" cy="274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457200" y="914400"/>
            <a:ext cx="5211900" cy="3910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547063" y="1005840"/>
            <a:ext cx="50322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Demo — sample.wav (4 Tamil sentences via gTTS)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547063" y="1435600"/>
            <a:ext cx="1033500" cy="594300"/>
          </a:xfrm>
          <a:prstGeom prst="rect">
            <a:avLst/>
          </a:prstGeom>
          <a:solidFill>
            <a:srgbClr val="065A8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1625417" y="1435675"/>
            <a:ext cx="3864000" cy="5943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1715286" y="1435608"/>
            <a:ext cx="368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நான் ஒரு மென்பொருள் பொறியாளர் | தமிழ் மொழி மிகவும் அழகானது...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547063" y="2212850"/>
            <a:ext cx="1033500" cy="5943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Transcript: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1625422" y="2212848"/>
            <a:ext cx="3864000" cy="5943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1715286" y="2212848"/>
            <a:ext cx="368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நான் ஒரு மென்பொருள் பொரியாளர் தமிழ் மொழி மிகவும் அழகானது இந்த அமைப்பு...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547063" y="2990100"/>
            <a:ext cx="1033500" cy="5943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Romanized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ASCII</a:t>
            </a: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):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1625422" y="2990088"/>
            <a:ext cx="3864000" cy="5943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1715286" y="2990088"/>
            <a:ext cx="3684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naan oru menporuL poriyaaLar tamiL moLi mikavum aLakaanatu inta amaippuu...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547063" y="3840480"/>
            <a:ext cx="4942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7A8A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5A7A8A"/>
                </a:solidFill>
                <a:latin typeface="Calibri"/>
                <a:ea typeface="Calibri"/>
                <a:cs typeface="Calibri"/>
                <a:sym typeface="Calibri"/>
              </a:rPr>
              <a:t>Custom grapheme-based romanizer produces pure ASCII output safe for any rendering environment.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5943600" y="914400"/>
            <a:ext cx="2743200" cy="39108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6032089" y="1005839"/>
            <a:ext cx="256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Test Results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383017" y="1411242"/>
            <a:ext cx="18804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 / 15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494256" y="2043031"/>
            <a:ext cx="1590000" cy="25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PASSED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6032100" y="2405003"/>
            <a:ext cx="2566200" cy="22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Buffer Manager</a:t>
            </a:r>
            <a:b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tests — add, get, full,</a:t>
            </a:r>
            <a:b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empty, clear, process_all</a:t>
            </a:r>
            <a:b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Transliteration Pipeline</a:t>
            </a:r>
            <a:b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tests — basic, empty,</a:t>
            </a:r>
            <a:b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sentence, scheme_info</a:t>
            </a:r>
            <a:b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Utils</a:t>
            </a:r>
            <a:b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tests — timestamp,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audio validation, format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Limitations &amp; Future Work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457200" y="694944"/>
            <a:ext cx="8229600" cy="2743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457200" y="914400"/>
            <a:ext cx="3840600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457200" y="914400"/>
            <a:ext cx="3840600" cy="639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546513" y="1005840"/>
            <a:ext cx="3661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Project 1 — Limitations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546513" y="1417320"/>
            <a:ext cx="36618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Parts B &amp; C use only </a:t>
            </a:r>
            <a:r>
              <a:rPr b="1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10 sentences</a:t>
            </a: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 — small-sample averages</a:t>
            </a:r>
            <a:b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Memory footprint is </a:t>
            </a:r>
            <a:r>
              <a:rPr b="1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illustrative</a:t>
            </a: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 (hidden=768, fp32 assumed)</a:t>
            </a:r>
            <a:b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mT5-base is not MT fine-tuned</a:t>
            </a: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 — tokenizer only comparison</a:t>
            </a:r>
            <a:b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Two model substitutions</a:t>
            </a: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 made (opus-mt-en-ta → en-mul,</a:t>
            </a:r>
            <a:b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madlad400-1b → 3b)</a:t>
            </a:r>
            <a:b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CPU-only experiments</a:t>
            </a: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 — measures tokenizer behaviour, not inference speed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4846325" y="914400"/>
            <a:ext cx="3840600" cy="274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4846325" y="914400"/>
            <a:ext cx="3840600" cy="639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4935641" y="1005840"/>
            <a:ext cx="36621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Project 2 — Limitations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4935641" y="1417320"/>
            <a:ext cx="36621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Default device: CPU</a:t>
            </a: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, fp16=False — GPU opt-in via model_config.py</a:t>
            </a:r>
            <a:b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Whisper-medium: ~1.5 GB</a:t>
            </a: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 cold-start download</a:t>
            </a:r>
            <a:b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Whole-file inference</a:t>
            </a: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 — buffer queues file paths, not raw PCM</a:t>
            </a:r>
            <a:b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Romanization fixed to HK scheme</a:t>
            </a: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 — single scheme only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57200" y="3794750"/>
            <a:ext cx="8229600" cy="1126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457210" y="3794758"/>
            <a:ext cx="8229600" cy="63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546661" y="3915801"/>
            <a:ext cx="805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546661" y="4224523"/>
            <a:ext cx="8050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Streaming ASR</a:t>
            </a: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 over chunked PCM audio (with overlap)  •  </a:t>
            </a:r>
            <a:r>
              <a:rPr b="1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User-selectable romanization</a:t>
            </a: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 (IAST / ITRANS / Velthuis)  •  </a:t>
            </a:r>
            <a:r>
              <a:rPr b="1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Latency in UI</a:t>
            </a: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  •  </a:t>
            </a:r>
            <a:r>
              <a:rPr b="1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Wider sentence sample</a:t>
            </a:r>
            <a:r>
              <a:rPr b="0" i="0" lang="en-US" sz="1000" u="none" cap="none" strike="noStrike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 for Parts B &amp; C across multiple FLORES domains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554100" y="265601"/>
            <a:ext cx="8017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554100" y="1081153"/>
            <a:ext cx="3564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00" lIns="89075" spcFirstLastPara="1" rIns="89075" wrap="square" tIns="44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59"/>
              <a:buFont typeface="Calibri"/>
              <a:buNone/>
            </a:pPr>
            <a:r>
              <a:rPr b="1" i="0" lang="en-US" sz="1559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 b="0" i="0" sz="15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999530" y="1081153"/>
            <a:ext cx="75723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00" lIns="89075" spcFirstLastPara="1" rIns="89075" wrap="square" tIns="44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64"/>
              <a:buFont typeface="Calibri"/>
              <a:buNone/>
            </a:pPr>
            <a:r>
              <a:rPr b="0" i="0" lang="en-US" sz="136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IndicTrans2 achieves sacreBLEU 22.42 (BP 0.9638) — strongest English→Tamil translation quality</a:t>
            </a:r>
            <a:endParaRPr b="0" i="0" sz="13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554100" y="1749298"/>
            <a:ext cx="3564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00" lIns="89075" spcFirstLastPara="1" rIns="89075" wrap="square" tIns="44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59"/>
              <a:buFont typeface="Calibri"/>
              <a:buNone/>
            </a:pPr>
            <a:r>
              <a:rPr b="1" i="0" lang="en-US" sz="1559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 b="0" i="0" sz="15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999530" y="1749298"/>
            <a:ext cx="75723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00" lIns="89075" spcFirstLastPara="1" rIns="89075" wrap="square" tIns="44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64"/>
              <a:buFont typeface="Calibri"/>
              <a:buNone/>
            </a:pPr>
            <a:r>
              <a:rPr b="0" i="0" lang="en-US" sz="136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NLLB-600M provides the best token efficiency for valid Tamil output — expansion ratio 1.366</a:t>
            </a:r>
            <a:endParaRPr b="0" i="0" sz="13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554100" y="2417444"/>
            <a:ext cx="3564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00" lIns="89075" spcFirstLastPara="1" rIns="89075" wrap="square" tIns="44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59"/>
              <a:buFont typeface="Calibri"/>
              <a:buNone/>
            </a:pPr>
            <a:r>
              <a:rPr b="1" i="0" lang="en-US" sz="1559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 b="0" i="0" sz="15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999530" y="2417444"/>
            <a:ext cx="75723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00" lIns="89075" spcFirstLastPara="1" rIns="89075" wrap="square" tIns="44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64"/>
              <a:buFont typeface="Calibri"/>
              <a:buNone/>
            </a:pPr>
            <a:r>
              <a:rPr b="0" i="0" lang="en-US" sz="136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Tokenizer efficiency ≠ translation quality — the key analytical finding across Parts B and C</a:t>
            </a:r>
            <a:endParaRPr b="0" i="0" sz="13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554100" y="3085590"/>
            <a:ext cx="3564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00" lIns="89075" spcFirstLastPara="1" rIns="89075" wrap="square" tIns="44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59"/>
              <a:buFont typeface="Calibri"/>
              <a:buNone/>
            </a:pPr>
            <a:r>
              <a:rPr b="1" i="0" lang="en-US" sz="1559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 b="0" i="0" sz="15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999530" y="3085590"/>
            <a:ext cx="75723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00" lIns="89075" spcFirstLastPara="1" rIns="89075" wrap="square" tIns="44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64"/>
              <a:buFont typeface="Calibri"/>
              <a:buNone/>
            </a:pPr>
            <a:r>
              <a:rPr b="0" i="0" lang="en-US" sz="136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ASR pipeline deployed — Whisper-medium + indic-transliteration + Gradio + Docker port 7860</a:t>
            </a:r>
            <a:endParaRPr b="0" i="0" sz="13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554100" y="3753735"/>
            <a:ext cx="3564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00" lIns="89075" spcFirstLastPara="1" rIns="89075" wrap="square" tIns="44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559"/>
              <a:buFont typeface="Calibri"/>
              <a:buNone/>
            </a:pPr>
            <a:r>
              <a:rPr b="1" i="0" lang="en-US" sz="1559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✦</a:t>
            </a:r>
            <a:endParaRPr b="0" i="0" sz="15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999530" y="3753735"/>
            <a:ext cx="75723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500" lIns="89075" spcFirstLastPara="1" rIns="89075" wrap="square" tIns="44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64"/>
              <a:buFont typeface="Calibri"/>
              <a:buNone/>
            </a:pPr>
            <a:r>
              <a:rPr b="0" i="0" lang="en-US" sz="136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15/15 unit tests passed — BufferManager, TransliterationPipeline, and Utils fully validated</a:t>
            </a:r>
            <a:endParaRPr b="0" i="0" sz="13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Round 2 Hands-On Projects  |  Tamizh Internship  | 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2026-05-13T11:31:25Z</dcterms:created>
  <dc:creator>Tamizh Internship</dc:creator>
</cp:coreProperties>
</file>